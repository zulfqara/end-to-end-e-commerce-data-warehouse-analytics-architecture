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50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224E4-222B-5D43-4DCC-EE4E9A1F3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63606C-9401-3867-6A2F-51F726581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5C270-6C73-73D8-6D07-10FCA31C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7DA8-BD96-4DAE-A77E-2F802C0D4282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B07FB-4340-600D-0054-C98C023F7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21C0B-0363-389E-E09D-5EBFD6BF5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A06C-D82E-4D60-9E76-56B3F4BD3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78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29E26-74EF-069A-E779-86E24EF15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792BE-2B20-87B8-1EA8-4623ECE75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E6835-933C-AEB7-10A2-CD04567F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7DA8-BD96-4DAE-A77E-2F802C0D4282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DC6AF-316F-674A-63D3-0119852E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8F51C-8F94-61FE-13C5-29C606129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A06C-D82E-4D60-9E76-56B3F4BD3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52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E48E-617C-CA29-53CE-246854EB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1C741-9C83-A8B9-A61F-D44F409EE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319DB-F70C-0F03-42FD-DC72BFCCA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7DA8-BD96-4DAE-A77E-2F802C0D4282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9B59F-11B5-9AAE-ACD2-8DB9D011C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873EA-BC59-3EB8-B674-B2EB5891F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A06C-D82E-4D60-9E76-56B3F4BD3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65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DEC43-E605-70CF-F39E-191525012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CE2D-C248-0FFD-BBBF-E7040DFED3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16C0B-7641-4049-DDA3-57A7C0510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9FA03-D871-900C-ECAE-E90009794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7DA8-BD96-4DAE-A77E-2F802C0D4282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43F68-5272-0304-F559-E4D8B3D7C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85830-0F25-2A8C-A2FA-16CEA7220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A06C-D82E-4D60-9E76-56B3F4BD3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642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C5EC-6BE6-BAE6-7FFE-755F4CA4D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C824D-67B6-2C4B-D0A9-B0BA4EFCE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FB717-D4C6-7796-695B-59E4EEA65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653B08-679C-3D77-8DF5-C876CAC7E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B41371-7D1B-1B87-CA80-9F7BBD2905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30AB4C-3995-1BFF-7AC0-F7CD7ECB2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7DA8-BD96-4DAE-A77E-2F802C0D4282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FB8F5C-2922-C1C8-CB39-B21ED99FE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108E1A-32DD-B3FA-F2F6-B643121CD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A06C-D82E-4D60-9E76-56B3F4BD3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4AB62-5D1C-C218-8070-4C21B8196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D907E7-14CD-C1C2-79CA-F6BA71319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7DA8-BD96-4DAE-A77E-2F802C0D4282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A7E067-1C19-E469-FAB7-174B9F7AF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1315A-95F1-18C8-7783-D8866551C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A06C-D82E-4D60-9E76-56B3F4BD3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37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0785EB-5BD2-EF8C-729A-4474C8BB1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7DA8-BD96-4DAE-A77E-2F802C0D4282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433C9F-0ECD-481F-7646-E0A34C5C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74C99-F919-4E21-8094-E30318E9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A06C-D82E-4D60-9E76-56B3F4BD3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6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047D3-6152-264D-13A5-D6AADA4A6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28614-0E8C-EBE0-ACF2-CD253671E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926D7-5513-04D0-BC08-96FE02CE8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04A33-4783-2580-8A84-68E394DD4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7DA8-BD96-4DAE-A77E-2F802C0D4282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171CC-983A-D636-2698-8D016E5F1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F0148-BD42-341D-97C0-FA400AF5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A06C-D82E-4D60-9E76-56B3F4BD3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6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27A9C-597A-0D67-F890-EF09A754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516B2A-FEAB-9C57-636C-A13819B60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2DE42-28E4-B08D-1816-D0F4FA45B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A5C72-16E6-D43F-C08A-9D619C15D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7DA8-BD96-4DAE-A77E-2F802C0D4282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92063-4403-BF26-1DF2-2A7AEF8D0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26D97-BA5D-38FA-0357-3522B9DB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A06C-D82E-4D60-9E76-56B3F4BD3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34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B9351-2EFC-AF0D-17B0-AA582540B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6B73E0-C0F0-D1B4-661A-EA76EECEF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5AF39-F5A3-3AA6-6F45-E216A8588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7DA8-BD96-4DAE-A77E-2F802C0D4282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85C43-47D7-4199-8DA2-4226DF211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AE6C2-7CBF-70ED-CFEA-018F58C3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A06C-D82E-4D60-9E76-56B3F4BD3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048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88DA55-7013-1C11-6024-C3957B7F4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8D81D3-D744-71B4-FA66-661FE2508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AEDFB-71CE-2304-BB0F-043EB67BE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7DA8-BD96-4DAE-A77E-2F802C0D4282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2D858-15E4-F69C-E41D-3210F481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FC65F-A9AC-24C2-4F2F-9FF405AB0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A06C-D82E-4D60-9E76-56B3F4BD3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60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E1EF9E-73F5-E64A-33A4-2CFDA22A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ADE86-4973-17B2-C9C8-A77512D99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B1C8B-63B8-E1A8-EEB2-6A5ACFBD3B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9D7DA8-BD96-4DAE-A77E-2F802C0D4282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1EDC9-DC6D-BC77-4E3C-227AC120D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3907F-4ECE-8BD7-4D23-1CC963A26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DEA06C-D82E-4D60-9E76-56B3F4BD3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2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30CC3-2B0E-F3EE-B59D-B23AD030C1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E-commerce Performance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117C1E-87E6-B295-2377-56967AAFB3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485059" y="3596607"/>
            <a:ext cx="51603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Insights &amp; Strategic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B8CEB9B-62C4-7B67-BA4D-ADF677594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5914" y="4328295"/>
            <a:ext cx="45386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Presenter</a:t>
            </a:r>
            <a:r>
              <a:rPr lang="en-US" sz="1800" b="1" dirty="0"/>
              <a:t>: </a:t>
            </a:r>
            <a:r>
              <a:rPr lang="en-US" sz="1800" dirty="0"/>
              <a:t>Zulfiqar Ali, Aspiring Data Analyst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40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65097-9F8F-E9C4-541D-7EEB67B10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the Marketplace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96898-9885-7AE8-A455-99DC22A2F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7155"/>
            <a:ext cx="10515600" cy="291937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 Nova" panose="020F0502020204030204" pitchFamily="34" charset="0"/>
                <a:cs typeface="Arial" panose="020B0604020202020204" pitchFamily="34" charset="0"/>
              </a:rPr>
              <a:t>Identified Critical Churn Drivers: </a:t>
            </a:r>
            <a:r>
              <a:rPr lang="en-US" altLang="en-US" sz="1800" dirty="0">
                <a:latin typeface="Arial Nova" panose="020F0502020204030204" pitchFamily="34" charset="0"/>
              </a:rPr>
              <a:t>Discovered a 52% customer churn rate (2017-2018) and a 0% retention cohort, identifying a massive influx of "one-time buyers" as the root cause.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 Nova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 Nova" panose="020F0502020204030204" pitchFamily="34" charset="0"/>
              </a:rPr>
              <a:t>Forecasted Seller Risk: </a:t>
            </a:r>
            <a:r>
              <a:rPr lang="en-US" altLang="en-US" sz="1800" dirty="0">
                <a:latin typeface="Arial Nova" panose="020F0502020204030204" pitchFamily="34" charset="0"/>
              </a:rPr>
              <a:t>Revealed that 17% of active sellers are currently "slipping" into inactivity, threatening to drive the platform's overall inactivity rate beyond 34%.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 Nova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 Nova" panose="020F0502020204030204" pitchFamily="34" charset="0"/>
              </a:rPr>
              <a:t>Highlighted Revenue Opportunities: </a:t>
            </a:r>
            <a:r>
              <a:rPr lang="en-US" altLang="en-US" sz="1800" dirty="0">
                <a:latin typeface="Arial Nova" panose="020F0502020204030204" pitchFamily="34" charset="0"/>
              </a:rPr>
              <a:t>Pinpointed "Health &amp; Beauty“ and Lifestyle products as the highest-demand product category, providing a clear target for marketing campaigns.</a:t>
            </a:r>
          </a:p>
          <a:p>
            <a:pPr marL="0" indent="0">
              <a:buNone/>
            </a:pPr>
            <a:endParaRPr lang="en-US" sz="1800" dirty="0"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352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C575F-BFD9-B98E-51E7-7718D6F6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Diagnosing the 52% Churn Rate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CAFB67-E24F-2AB5-ACA6-0EC1423383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135" y="2434348"/>
            <a:ext cx="810510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spike in churn is not distributed evenly across our user 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driven heavily by an influx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91,000 "One-Time Buyers.“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users make a single purchase (frequently in the Health &amp; Beauty category)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never return to the platform.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B7BD50-B038-606E-F0BE-067B3FABF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888" y="3845307"/>
            <a:ext cx="3509981" cy="28491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54179D-FCD1-E87B-FC87-54D939C21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9074" y="689198"/>
            <a:ext cx="2910484" cy="232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58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F4FC-B094-DEFF-E7CD-BEB044586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Seller Performance &amp; Health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2AF708-B4D2-AF7B-A313-F462C928C4F5}"/>
              </a:ext>
            </a:extLst>
          </p:cNvPr>
          <p:cNvSpPr txBox="1"/>
          <p:nvPr/>
        </p:nvSpPr>
        <p:spPr>
          <a:xfrm>
            <a:off x="976183" y="1709223"/>
            <a:ext cx="693214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 Nova" panose="020B0504020202020204" pitchFamily="34" charset="0"/>
              </a:rPr>
              <a:t>Strong Baseline Revenue:</a:t>
            </a:r>
            <a:r>
              <a:rPr lang="en-US" altLang="en-US" sz="1600" dirty="0">
                <a:latin typeface="Arial Nova" panose="020B0504020202020204" pitchFamily="34" charset="0"/>
              </a:rPr>
              <a:t> Our network of 3.1K sellers successfully generated </a:t>
            </a:r>
            <a:r>
              <a:rPr lang="en-US" altLang="en-US" sz="1600" b="1" dirty="0">
                <a:latin typeface="Arial Nova" panose="020B0504020202020204" pitchFamily="34" charset="0"/>
              </a:rPr>
              <a:t>$13.83M in GMV</a:t>
            </a:r>
            <a:r>
              <a:rPr lang="en-US" altLang="en-US" sz="1600" dirty="0">
                <a:latin typeface="Arial Nova" panose="020B0504020202020204" pitchFamily="34" charset="0"/>
              </a:rPr>
              <a:t> across 97.5K orders, maintaining a healthy Average Order Value (AOV) of $142.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 Nova" panose="020B05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 Nova" panose="020B0504020202020204" pitchFamily="34" charset="0"/>
              </a:rPr>
              <a:t>Premium &amp; Silver Dominance:</a:t>
            </a:r>
            <a:r>
              <a:rPr lang="en-US" altLang="en-US" sz="1600" dirty="0">
                <a:latin typeface="Arial Nova" panose="020B0504020202020204" pitchFamily="34" charset="0"/>
              </a:rPr>
              <a:t> Premium sellers are the primary revenue drivers (</a:t>
            </a:r>
            <a:r>
              <a:rPr lang="en-US" altLang="en-US" sz="1600" b="1" dirty="0">
                <a:latin typeface="Arial Nova" panose="020B0504020202020204" pitchFamily="34" charset="0"/>
              </a:rPr>
              <a:t>$8.6M GMV</a:t>
            </a:r>
            <a:r>
              <a:rPr lang="en-US" altLang="en-US" sz="1600" dirty="0">
                <a:latin typeface="Arial Nova" panose="020B0504020202020204" pitchFamily="34" charset="0"/>
              </a:rPr>
              <a:t>), while the vast majority of our overall seller base (75%) currently sits in the Silver tier.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 Nova" panose="020B05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 Nova" panose="020B0504020202020204" pitchFamily="34" charset="0"/>
              </a:rPr>
              <a:t>Critical Inactivity Risk:</a:t>
            </a:r>
            <a:r>
              <a:rPr lang="en-US" altLang="en-US" sz="1600" dirty="0">
                <a:latin typeface="Arial Nova" panose="020B0504020202020204" pitchFamily="34" charset="0"/>
              </a:rPr>
              <a:t> Less than half of our marketplace is actively trading. Only </a:t>
            </a:r>
            <a:r>
              <a:rPr lang="en-US" altLang="en-US" sz="1600" b="1" dirty="0">
                <a:latin typeface="Arial Nova" panose="020B0504020202020204" pitchFamily="34" charset="0"/>
              </a:rPr>
              <a:t>40.7% of sellers are currently active</a:t>
            </a:r>
            <a:r>
              <a:rPr lang="en-US" altLang="en-US" sz="1600" dirty="0">
                <a:latin typeface="Arial Nova" panose="020B0504020202020204" pitchFamily="34" charset="0"/>
              </a:rPr>
              <a:t>, while a massive 37.1% remain entirely inactive.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 Nova" panose="020B05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 Nova" panose="020B0504020202020204" pitchFamily="34" charset="0"/>
              </a:rPr>
              <a:t>Immediate Recovery Opportunity:</a:t>
            </a:r>
            <a:r>
              <a:rPr lang="en-US" altLang="en-US" sz="1600" dirty="0">
                <a:latin typeface="Arial Nova" panose="020B0504020202020204" pitchFamily="34" charset="0"/>
              </a:rPr>
              <a:t> With </a:t>
            </a:r>
            <a:r>
              <a:rPr lang="en-US" altLang="en-US" sz="1600" b="1" dirty="0">
                <a:latin typeface="Arial Nova" panose="020B0504020202020204" pitchFamily="34" charset="0"/>
              </a:rPr>
              <a:t>17.25% of our sellers </a:t>
            </a:r>
            <a:r>
              <a:rPr lang="en-US" altLang="en-US" sz="1600" dirty="0">
                <a:latin typeface="Arial Nova" panose="020B0504020202020204" pitchFamily="34" charset="0"/>
              </a:rPr>
              <a:t>categorized as </a:t>
            </a:r>
            <a:r>
              <a:rPr lang="en-US" altLang="en-US" sz="1600" b="1" dirty="0">
                <a:latin typeface="Arial Nova" panose="020B0504020202020204" pitchFamily="34" charset="0"/>
              </a:rPr>
              <a:t>'Slipping,'</a:t>
            </a:r>
            <a:r>
              <a:rPr lang="en-US" altLang="en-US" sz="1600" dirty="0">
                <a:latin typeface="Arial Nova" panose="020B0504020202020204" pitchFamily="34" charset="0"/>
              </a:rPr>
              <a:t> launching targeted re-engagement campaigns for this specific group represents our fastest path to recovering order consistency.</a:t>
            </a:r>
          </a:p>
          <a:p>
            <a:endParaRPr lang="en-US" sz="1600" dirty="0">
              <a:latin typeface="Arial Nova" panose="020B05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58CF8E-98E4-C67B-09B7-C202E3C18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324" y="1578950"/>
            <a:ext cx="3696216" cy="20195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C53FA3-78A3-BA63-EFDF-D19B8D643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779" y="4331180"/>
            <a:ext cx="3313306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89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3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B63D-676E-769A-46E2-089A0A646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Performance &amp; Lifecycle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7CF4D1-4124-1901-3589-7BEEC705FD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75408"/>
            <a:ext cx="8614719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Explosive Late-Term Growth: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platform successfully drove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$13.6M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Total GMV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 114K products sold, highlighted by a massive, exponential spike in order volume and revenue culminating in August 2018.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 &amp; Lifestyle Dominate Revenue: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Top-line revenue is heavily concentrated in premium categories.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 &amp; Beauty ($1.3M)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Lifestyle Categories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($1.2M)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our highest-grossing segments, supporting a strong overall Average Selling Price of $120.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"One-Timer" Bottleneck: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Despite solid top-line sales and a healthy 3.98 average rating, our Product Lifecycle Distribution reveals a major retention flaw: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19.8K products never progress past a single purchase.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Strategic Opportunity: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Only a tiny fraction of our inventory reaches "Proven" (516)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"Star" (45) status. To reduce our 52% customer churn, we must shift strategy to drive repeat purchases for these high-volume "One-Timer" items through strategic bundling 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post-purchase marketing.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4ABAE9-397E-13D0-64B9-5A1936AEA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607" y="4275146"/>
            <a:ext cx="2846393" cy="258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ADAA-50A8-C09C-8D67-1F0DEECB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Action Plan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9E6019-1611-311A-5F8B-3F3A88506A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9231"/>
            <a:ext cx="1108607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Marketing Team: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Launch a targeted "30-Day Win-Back" email campaign specifically for the 91K one-time buyers, offering a discount on their second purchase.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Account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Initiate automated check-in emails for the 17.25% 'Slipping' sellers to encourage new inventory uploads.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Sales/Web Team: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Implement "Frequently Bought Together" bundle discounts at checkout based on the Market Basket Analysis.</a:t>
            </a:r>
          </a:p>
        </p:txBody>
      </p:sp>
    </p:spTree>
    <p:extLst>
      <p:ext uri="{BB962C8B-B14F-4D97-AF65-F5344CB8AC3E}">
        <p14:creationId xmlns:p14="http://schemas.microsoft.com/office/powerpoint/2010/main" val="2615810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550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Arial Nova</vt:lpstr>
      <vt:lpstr>Office Theme</vt:lpstr>
      <vt:lpstr>E-commerce Performance Analysis</vt:lpstr>
      <vt:lpstr>State of the Marketplace</vt:lpstr>
      <vt:lpstr>Diagnosing the 52% Churn Rate</vt:lpstr>
      <vt:lpstr>Seller Performance &amp; Health Analysis</vt:lpstr>
      <vt:lpstr>Product Performance &amp; Lifecycle Analysis</vt:lpstr>
      <vt:lpstr>Recommended Action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Zulfiqar Ali</dc:creator>
  <cp:lastModifiedBy>Zulfiqar Ali</cp:lastModifiedBy>
  <cp:revision>4</cp:revision>
  <dcterms:created xsi:type="dcterms:W3CDTF">2026-03-15T22:29:12Z</dcterms:created>
  <dcterms:modified xsi:type="dcterms:W3CDTF">2026-03-15T23:22:13Z</dcterms:modified>
</cp:coreProperties>
</file>